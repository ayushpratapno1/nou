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2" r:id="rId2"/>
    <p:sldId id="256" r:id="rId3"/>
    <p:sldId id="257" r:id="rId4"/>
    <p:sldId id="258" r:id="rId5"/>
    <p:sldId id="259" r:id="rId6"/>
    <p:sldId id="260" r:id="rId7"/>
    <p:sldId id="261" r:id="rId8"/>
    <p:sldId id="263" r:id="rId9"/>
  </p:sldIdLst>
  <p:sldSz cx="14630400" cy="8229600"/>
  <p:notesSz cx="8229600" cy="14630400"/>
  <p:defaultTextStyle>
    <a:lvl1pPr marL="0" algn="l" defTabSz="914309" rtl="0" eaLnBrk="1" latinLnBrk="0" hangingPunct="1">
      <a:defRPr sz="1900" kern="1200">
        <a:solidFill>
          <a:schemeClr val="tx1"/>
        </a:solidFill>
        <a:latin typeface="+mn-lt"/>
        <a:ea typeface="+mn-ea"/>
        <a:cs typeface="+mn-cs"/>
      </a:defRPr>
    </a:lvl1pPr>
    <a:lvl2pPr marL="457154" algn="l" defTabSz="914309" rtl="0" eaLnBrk="1" latinLnBrk="0" hangingPunct="1">
      <a:defRPr sz="1900" kern="1200">
        <a:solidFill>
          <a:schemeClr val="tx1"/>
        </a:solidFill>
        <a:latin typeface="+mn-lt"/>
        <a:ea typeface="+mn-ea"/>
        <a:cs typeface="+mn-cs"/>
      </a:defRPr>
    </a:lvl2pPr>
    <a:lvl3pPr marL="914309" algn="l" defTabSz="914309" rtl="0" eaLnBrk="1" latinLnBrk="0" hangingPunct="1">
      <a:defRPr sz="1900" kern="1200">
        <a:solidFill>
          <a:schemeClr val="tx1"/>
        </a:solidFill>
        <a:latin typeface="+mn-lt"/>
        <a:ea typeface="+mn-ea"/>
        <a:cs typeface="+mn-cs"/>
      </a:defRPr>
    </a:lvl3pPr>
    <a:lvl4pPr marL="1371463" algn="l" defTabSz="914309" rtl="0" eaLnBrk="1" latinLnBrk="0" hangingPunct="1">
      <a:defRPr sz="1900" kern="1200">
        <a:solidFill>
          <a:schemeClr val="tx1"/>
        </a:solidFill>
        <a:latin typeface="+mn-lt"/>
        <a:ea typeface="+mn-ea"/>
        <a:cs typeface="+mn-cs"/>
      </a:defRPr>
    </a:lvl4pPr>
    <a:lvl5pPr marL="1828617" algn="l" defTabSz="914309" rtl="0" eaLnBrk="1" latinLnBrk="0" hangingPunct="1">
      <a:defRPr sz="1900" kern="1200">
        <a:solidFill>
          <a:schemeClr val="tx1"/>
        </a:solidFill>
        <a:latin typeface="+mn-lt"/>
        <a:ea typeface="+mn-ea"/>
        <a:cs typeface="+mn-cs"/>
      </a:defRPr>
    </a:lvl5pPr>
    <a:lvl6pPr marL="2285771" algn="l" defTabSz="914309" rtl="0" eaLnBrk="1" latinLnBrk="0" hangingPunct="1">
      <a:defRPr sz="1900" kern="1200">
        <a:solidFill>
          <a:schemeClr val="tx1"/>
        </a:solidFill>
        <a:latin typeface="+mn-lt"/>
        <a:ea typeface="+mn-ea"/>
        <a:cs typeface="+mn-cs"/>
      </a:defRPr>
    </a:lvl6pPr>
    <a:lvl7pPr marL="2742926" algn="l" defTabSz="914309" rtl="0" eaLnBrk="1" latinLnBrk="0" hangingPunct="1">
      <a:defRPr sz="1900" kern="1200">
        <a:solidFill>
          <a:schemeClr val="tx1"/>
        </a:solidFill>
        <a:latin typeface="+mn-lt"/>
        <a:ea typeface="+mn-ea"/>
        <a:cs typeface="+mn-cs"/>
      </a:defRPr>
    </a:lvl7pPr>
    <a:lvl8pPr marL="3200080" algn="l" defTabSz="914309" rtl="0" eaLnBrk="1" latinLnBrk="0" hangingPunct="1">
      <a:defRPr sz="1900" kern="1200">
        <a:solidFill>
          <a:schemeClr val="tx1"/>
        </a:solidFill>
        <a:latin typeface="+mn-lt"/>
        <a:ea typeface="+mn-ea"/>
        <a:cs typeface="+mn-cs"/>
      </a:defRPr>
    </a:lvl8pPr>
    <a:lvl9pPr marL="3657234" algn="l" defTabSz="914309"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101" y="82"/>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309" rtl="0" eaLnBrk="1" latinLnBrk="0" hangingPunct="1">
      <a:defRPr sz="1100" kern="1200">
        <a:solidFill>
          <a:schemeClr val="tx1"/>
        </a:solidFill>
        <a:latin typeface="+mn-lt"/>
        <a:ea typeface="+mn-ea"/>
        <a:cs typeface="+mn-cs"/>
      </a:defRPr>
    </a:lvl1pPr>
    <a:lvl2pPr marL="457154" algn="l" defTabSz="914309" rtl="0" eaLnBrk="1" latinLnBrk="0" hangingPunct="1">
      <a:defRPr sz="1100" kern="1200">
        <a:solidFill>
          <a:schemeClr val="tx1"/>
        </a:solidFill>
        <a:latin typeface="+mn-lt"/>
        <a:ea typeface="+mn-ea"/>
        <a:cs typeface="+mn-cs"/>
      </a:defRPr>
    </a:lvl2pPr>
    <a:lvl3pPr marL="914309" algn="l" defTabSz="914309" rtl="0" eaLnBrk="1" latinLnBrk="0" hangingPunct="1">
      <a:defRPr sz="1100" kern="1200">
        <a:solidFill>
          <a:schemeClr val="tx1"/>
        </a:solidFill>
        <a:latin typeface="+mn-lt"/>
        <a:ea typeface="+mn-ea"/>
        <a:cs typeface="+mn-cs"/>
      </a:defRPr>
    </a:lvl3pPr>
    <a:lvl4pPr marL="1371463" algn="l" defTabSz="914309" rtl="0" eaLnBrk="1" latinLnBrk="0" hangingPunct="1">
      <a:defRPr sz="1100" kern="1200">
        <a:solidFill>
          <a:schemeClr val="tx1"/>
        </a:solidFill>
        <a:latin typeface="+mn-lt"/>
        <a:ea typeface="+mn-ea"/>
        <a:cs typeface="+mn-cs"/>
      </a:defRPr>
    </a:lvl4pPr>
    <a:lvl5pPr marL="1828617" algn="l" defTabSz="914309" rtl="0" eaLnBrk="1" latinLnBrk="0" hangingPunct="1">
      <a:defRPr sz="1100" kern="1200">
        <a:solidFill>
          <a:schemeClr val="tx1"/>
        </a:solidFill>
        <a:latin typeface="+mn-lt"/>
        <a:ea typeface="+mn-ea"/>
        <a:cs typeface="+mn-cs"/>
      </a:defRPr>
    </a:lvl5pPr>
    <a:lvl6pPr marL="2285771" algn="l" defTabSz="914309" rtl="0" eaLnBrk="1" latinLnBrk="0" hangingPunct="1">
      <a:defRPr sz="1100" kern="1200">
        <a:solidFill>
          <a:schemeClr val="tx1"/>
        </a:solidFill>
        <a:latin typeface="+mn-lt"/>
        <a:ea typeface="+mn-ea"/>
        <a:cs typeface="+mn-cs"/>
      </a:defRPr>
    </a:lvl6pPr>
    <a:lvl7pPr marL="2742926" algn="l" defTabSz="914309" rtl="0" eaLnBrk="1" latinLnBrk="0" hangingPunct="1">
      <a:defRPr sz="1100" kern="1200">
        <a:solidFill>
          <a:schemeClr val="tx1"/>
        </a:solidFill>
        <a:latin typeface="+mn-lt"/>
        <a:ea typeface="+mn-ea"/>
        <a:cs typeface="+mn-cs"/>
      </a:defRPr>
    </a:lvl7pPr>
    <a:lvl8pPr marL="3200080" algn="l" defTabSz="914309" rtl="0" eaLnBrk="1" latinLnBrk="0" hangingPunct="1">
      <a:defRPr sz="1100" kern="1200">
        <a:solidFill>
          <a:schemeClr val="tx1"/>
        </a:solidFill>
        <a:latin typeface="+mn-lt"/>
        <a:ea typeface="+mn-ea"/>
        <a:cs typeface="+mn-cs"/>
      </a:defRPr>
    </a:lvl8pPr>
    <a:lvl9pPr marL="3657234" algn="l" defTabSz="914309"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p:split orient="vert"/>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t="-1000" r="-3000" b="-2000"/>
          </a:stretch>
        </a:blipFill>
        <a:effectLst/>
      </p:bgPr>
    </p:bg>
    <p:spTree>
      <p:nvGrpSpPr>
        <p:cNvPr id="1" name=""/>
        <p:cNvGrpSpPr/>
        <p:nvPr/>
      </p:nvGrpSpPr>
      <p:grpSpPr>
        <a:xfrm>
          <a:off x="0" y="0"/>
          <a:ext cx="0" cy="0"/>
          <a:chOff x="0" y="0"/>
          <a:chExt cx="0" cy="0"/>
        </a:xfrm>
      </p:grpSpPr>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sp>
        <p:nvSpPr>
          <p:cNvPr id="4" name="Text 1"/>
          <p:cNvSpPr/>
          <p:nvPr/>
        </p:nvSpPr>
        <p:spPr>
          <a:xfrm>
            <a:off x="5433107" y="1489435"/>
            <a:ext cx="5332690" cy="860442"/>
          </a:xfrm>
          <a:prstGeom prst="rect">
            <a:avLst/>
          </a:prstGeom>
          <a:noFill/>
          <a:ln/>
        </p:spPr>
        <p:txBody>
          <a:bodyPr wrap="none" lIns="91431" tIns="45716" rIns="91431" bIns="45716" rtlCol="0" anchor="t"/>
          <a:lstStyle/>
          <a:p>
            <a:pPr>
              <a:lnSpc>
                <a:spcPts val="6561"/>
              </a:lnSpc>
            </a:pPr>
            <a:r>
              <a:rPr lang="en-US" sz="5300" b="1" dirty="0">
                <a:solidFill>
                  <a:srgbClr val="396AF1"/>
                </a:solidFill>
                <a:latin typeface="Barlow" pitchFamily="34" charset="0"/>
                <a:ea typeface="Barlow" pitchFamily="34" charset="-122"/>
                <a:cs typeface="Barlow" pitchFamily="34" charset="-120"/>
              </a:rPr>
              <a:t>Big Data</a:t>
            </a:r>
            <a:endParaRPr lang="en-US" sz="5300" dirty="0"/>
          </a:p>
        </p:txBody>
      </p:sp>
      <p:sp>
        <p:nvSpPr>
          <p:cNvPr id="5" name="Text 2"/>
          <p:cNvSpPr/>
          <p:nvPr/>
        </p:nvSpPr>
        <p:spPr>
          <a:xfrm>
            <a:off x="3346283" y="2931099"/>
            <a:ext cx="8641981" cy="2602570"/>
          </a:xfrm>
          <a:prstGeom prst="rect">
            <a:avLst/>
          </a:prstGeom>
          <a:noFill/>
          <a:ln/>
        </p:spPr>
        <p:txBody>
          <a:bodyPr wrap="square" lIns="91431" tIns="45716" rIns="91431" bIns="45716" rtlCol="0" anchor="t"/>
          <a:lstStyle/>
          <a:p>
            <a:pPr>
              <a:lnSpc>
                <a:spcPts val="2798"/>
              </a:lnSpc>
            </a:pPr>
            <a:r>
              <a:rPr lang="en-US" sz="2900" dirty="0"/>
              <a:t>Big data is larger, more complex data sets, especially from new data sources. These data sets are so voluminous that traditional data processing software just can't manage them. But these massive volumes of data can be used to address business problems you wouldn't have been able to tackle before. </a:t>
            </a:r>
          </a:p>
        </p:txBody>
      </p:sp>
      <p:sp>
        <p:nvSpPr>
          <p:cNvPr id="6" name="Shape 3"/>
          <p:cNvSpPr/>
          <p:nvPr/>
        </p:nvSpPr>
        <p:spPr>
          <a:xfrm>
            <a:off x="6319600" y="5178266"/>
            <a:ext cx="355402" cy="355402"/>
          </a:xfrm>
          <a:prstGeom prst="roundRect">
            <a:avLst>
              <a:gd name="adj" fmla="val 25726039"/>
            </a:avLst>
          </a:prstGeom>
          <a:noFill/>
          <a:ln w="7620">
            <a:solidFill>
              <a:srgbClr val="FFFFFF"/>
            </a:solidFill>
            <a:prstDash val="solid"/>
          </a:ln>
        </p:spPr>
        <p:txBody>
          <a:bodyPr/>
          <a:lstStyle/>
          <a:p>
            <a:endParaRPr lang="en-US"/>
          </a:p>
        </p:txBody>
      </p:sp>
    </p:spTree>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18854"/>
            <a:ext cx="14630400" cy="8229600"/>
          </a:xfrm>
          <a:prstGeom prst="rect">
            <a:avLst/>
          </a:prstGeom>
          <a:solidFill>
            <a:srgbClr val="EEEFF5">
              <a:alpha val="85000"/>
            </a:srgbClr>
          </a:solidFill>
          <a:ln/>
        </p:spPr>
        <p:txBody>
          <a:bodyPr/>
          <a:lstStyle/>
          <a:p>
            <a:endParaRPr lang="en-US"/>
          </a:p>
        </p:txBody>
      </p:sp>
      <p:sp>
        <p:nvSpPr>
          <p:cNvPr id="6" name="Text 2"/>
          <p:cNvSpPr/>
          <p:nvPr/>
        </p:nvSpPr>
        <p:spPr>
          <a:xfrm>
            <a:off x="3155042" y="1752144"/>
            <a:ext cx="5859781" cy="694373"/>
          </a:xfrm>
          <a:prstGeom prst="rect">
            <a:avLst/>
          </a:prstGeom>
          <a:noFill/>
          <a:ln/>
        </p:spPr>
        <p:txBody>
          <a:bodyPr wrap="none" lIns="91431" tIns="45716" rIns="91431" bIns="45716" rtlCol="0" anchor="t"/>
          <a:lstStyle/>
          <a:p>
            <a:pPr>
              <a:lnSpc>
                <a:spcPts val="5468"/>
              </a:lnSpc>
            </a:pPr>
            <a:r>
              <a:rPr lang="en-US" sz="4400" b="1">
                <a:solidFill>
                  <a:srgbClr val="396AF1"/>
                </a:solidFill>
                <a:latin typeface="Barlow" pitchFamily="34" charset="0"/>
                <a:ea typeface="Barlow" pitchFamily="34" charset="-122"/>
                <a:cs typeface="Barlow" pitchFamily="34" charset="-120"/>
              </a:rPr>
              <a:t>Introduction of </a:t>
            </a:r>
            <a:r>
              <a:rPr lang="en-US" sz="4400" b="1" dirty="0">
                <a:solidFill>
                  <a:srgbClr val="396AF1"/>
                </a:solidFill>
                <a:latin typeface="Barlow" pitchFamily="34" charset="0"/>
                <a:ea typeface="Barlow" pitchFamily="34" charset="-122"/>
                <a:cs typeface="Barlow" pitchFamily="34" charset="-120"/>
              </a:rPr>
              <a:t>Big Data</a:t>
            </a:r>
            <a:endParaRPr lang="en-US" sz="4400" dirty="0"/>
          </a:p>
        </p:txBody>
      </p:sp>
      <p:sp>
        <p:nvSpPr>
          <p:cNvPr id="7" name="Shape 3"/>
          <p:cNvSpPr/>
          <p:nvPr/>
        </p:nvSpPr>
        <p:spPr>
          <a:xfrm>
            <a:off x="1760221" y="3681772"/>
            <a:ext cx="499942" cy="499943"/>
          </a:xfrm>
          <a:prstGeom prst="roundRect">
            <a:avLst>
              <a:gd name="adj" fmla="val 26667"/>
            </a:avLst>
          </a:prstGeom>
          <a:solidFill>
            <a:srgbClr val="EEEFF5"/>
          </a:solidFill>
          <a:ln/>
        </p:spPr>
        <p:txBody>
          <a:bodyPr/>
          <a:lstStyle/>
          <a:p>
            <a:endParaRPr lang="en-US"/>
          </a:p>
        </p:txBody>
      </p:sp>
      <p:sp>
        <p:nvSpPr>
          <p:cNvPr id="9" name="Text 5"/>
          <p:cNvSpPr/>
          <p:nvPr/>
        </p:nvSpPr>
        <p:spPr>
          <a:xfrm>
            <a:off x="2482335" y="3758089"/>
            <a:ext cx="2221944"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What is Big Data?</a:t>
            </a:r>
            <a:endParaRPr lang="en-US" sz="2100" dirty="0"/>
          </a:p>
        </p:txBody>
      </p:sp>
      <p:sp>
        <p:nvSpPr>
          <p:cNvPr id="10" name="Text 6"/>
          <p:cNvSpPr/>
          <p:nvPr/>
        </p:nvSpPr>
        <p:spPr>
          <a:xfrm>
            <a:off x="2482337" y="4327447"/>
            <a:ext cx="4721781" cy="1066205"/>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refers to the vast amount of structured and unstructured data that is generated in our digital world.</a:t>
            </a:r>
            <a:endParaRPr lang="en-US" sz="1700" dirty="0"/>
          </a:p>
        </p:txBody>
      </p:sp>
      <p:sp>
        <p:nvSpPr>
          <p:cNvPr id="11" name="Shape 7"/>
          <p:cNvSpPr/>
          <p:nvPr/>
        </p:nvSpPr>
        <p:spPr>
          <a:xfrm>
            <a:off x="7426287" y="3681772"/>
            <a:ext cx="499942" cy="499943"/>
          </a:xfrm>
          <a:prstGeom prst="roundRect">
            <a:avLst>
              <a:gd name="adj" fmla="val 26667"/>
            </a:avLst>
          </a:prstGeom>
          <a:solidFill>
            <a:srgbClr val="EEEFF5"/>
          </a:solidFill>
          <a:ln/>
        </p:spPr>
        <p:txBody>
          <a:bodyPr/>
          <a:lstStyle/>
          <a:p>
            <a:endParaRPr lang="en-US"/>
          </a:p>
        </p:txBody>
      </p:sp>
      <p:sp>
        <p:nvSpPr>
          <p:cNvPr id="12" name="Text 8"/>
          <p:cNvSpPr/>
          <p:nvPr/>
        </p:nvSpPr>
        <p:spPr>
          <a:xfrm>
            <a:off x="7584758" y="3723443"/>
            <a:ext cx="182880" cy="416482"/>
          </a:xfrm>
          <a:prstGeom prst="rect">
            <a:avLst/>
          </a:prstGeom>
          <a:noFill/>
          <a:ln/>
        </p:spPr>
        <p:txBody>
          <a:bodyPr wrap="none" lIns="91431" tIns="45716" rIns="91431" bIns="45716" rtlCol="0" anchor="t"/>
          <a:lstStyle/>
          <a:p>
            <a:pPr algn="ctr">
              <a:lnSpc>
                <a:spcPts val="3281"/>
              </a:lnSpc>
            </a:pPr>
            <a:endParaRPr lang="en-US" sz="2600" dirty="0"/>
          </a:p>
        </p:txBody>
      </p:sp>
      <p:sp>
        <p:nvSpPr>
          <p:cNvPr id="13" name="Text 9"/>
          <p:cNvSpPr/>
          <p:nvPr/>
        </p:nvSpPr>
        <p:spPr>
          <a:xfrm>
            <a:off x="8148398" y="3758089"/>
            <a:ext cx="3284221"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Characteristics of Big Data</a:t>
            </a:r>
            <a:endParaRPr lang="en-US" sz="2100" dirty="0"/>
          </a:p>
        </p:txBody>
      </p:sp>
      <p:sp>
        <p:nvSpPr>
          <p:cNvPr id="14" name="Text 10"/>
          <p:cNvSpPr/>
          <p:nvPr/>
        </p:nvSpPr>
        <p:spPr>
          <a:xfrm>
            <a:off x="8148402" y="4327446"/>
            <a:ext cx="4721781" cy="1421606"/>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is characterized by its volume, velocity, variety, and veracity, requiring specialized tools and techniques for analysis.</a:t>
            </a:r>
            <a:endParaRPr lang="en-US" sz="1700" dirty="0"/>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sp>
        <p:nvSpPr>
          <p:cNvPr id="4" name="Text 1"/>
          <p:cNvSpPr/>
          <p:nvPr/>
        </p:nvSpPr>
        <p:spPr>
          <a:xfrm>
            <a:off x="6319601" y="1430774"/>
            <a:ext cx="5494021" cy="694373"/>
          </a:xfrm>
          <a:prstGeom prst="rect">
            <a:avLst/>
          </a:prstGeom>
          <a:noFill/>
          <a:ln/>
        </p:spPr>
        <p:txBody>
          <a:bodyPr wrap="none" lIns="91431" tIns="45716" rIns="91431" bIns="45716" rtlCol="0" anchor="t"/>
          <a:lstStyle/>
          <a:p>
            <a:pPr>
              <a:lnSpc>
                <a:spcPts val="5468"/>
              </a:lnSpc>
            </a:pPr>
            <a:r>
              <a:rPr lang="en-US" sz="4400" b="1" dirty="0">
                <a:solidFill>
                  <a:srgbClr val="396AF1"/>
                </a:solidFill>
                <a:latin typeface="Barlow" pitchFamily="34" charset="0"/>
                <a:ea typeface="Barlow" pitchFamily="34" charset="-122"/>
                <a:cs typeface="Barlow" pitchFamily="34" charset="-120"/>
              </a:rPr>
              <a:t>Challenges of Big Data</a:t>
            </a:r>
            <a:endParaRPr lang="en-US" sz="4400" dirty="0"/>
          </a:p>
        </p:txBody>
      </p:sp>
      <p:sp>
        <p:nvSpPr>
          <p:cNvPr id="5" name="Shape 2"/>
          <p:cNvSpPr/>
          <p:nvPr/>
        </p:nvSpPr>
        <p:spPr>
          <a:xfrm>
            <a:off x="6319600" y="2631999"/>
            <a:ext cx="499942" cy="499943"/>
          </a:xfrm>
          <a:prstGeom prst="roundRect">
            <a:avLst>
              <a:gd name="adj" fmla="val 26667"/>
            </a:avLst>
          </a:prstGeom>
          <a:solidFill>
            <a:srgbClr val="EEEFF5"/>
          </a:solidFill>
          <a:ln/>
        </p:spPr>
        <p:txBody>
          <a:bodyPr/>
          <a:lstStyle/>
          <a:p>
            <a:endParaRPr lang="en-US"/>
          </a:p>
        </p:txBody>
      </p:sp>
      <p:sp>
        <p:nvSpPr>
          <p:cNvPr id="6" name="Text 3"/>
          <p:cNvSpPr/>
          <p:nvPr/>
        </p:nvSpPr>
        <p:spPr>
          <a:xfrm>
            <a:off x="6512363" y="2673668"/>
            <a:ext cx="114301" cy="416482"/>
          </a:xfrm>
          <a:prstGeom prst="rect">
            <a:avLst/>
          </a:prstGeom>
          <a:noFill/>
          <a:ln/>
        </p:spPr>
        <p:txBody>
          <a:bodyPr wrap="none" lIns="91431" tIns="45716" rIns="91431" bIns="45716" rtlCol="0" anchor="t"/>
          <a:lstStyle/>
          <a:p>
            <a:pPr algn="ctr">
              <a:lnSpc>
                <a:spcPts val="3281"/>
              </a:lnSpc>
            </a:pPr>
            <a:r>
              <a:rPr lang="en-US" sz="2600" b="1" dirty="0">
                <a:solidFill>
                  <a:srgbClr val="396AF1"/>
                </a:solidFill>
                <a:latin typeface="Barlow" pitchFamily="34" charset="0"/>
                <a:ea typeface="Barlow" pitchFamily="34" charset="-122"/>
                <a:cs typeface="Barlow" pitchFamily="34" charset="-120"/>
              </a:rPr>
              <a:t>1</a:t>
            </a:r>
            <a:endParaRPr lang="en-US" sz="2600" dirty="0"/>
          </a:p>
        </p:txBody>
      </p:sp>
      <p:sp>
        <p:nvSpPr>
          <p:cNvPr id="7" name="Text 4"/>
          <p:cNvSpPr/>
          <p:nvPr/>
        </p:nvSpPr>
        <p:spPr>
          <a:xfrm>
            <a:off x="7041714" y="2708317"/>
            <a:ext cx="2905602" cy="694373"/>
          </a:xfrm>
          <a:prstGeom prst="rect">
            <a:avLst/>
          </a:prstGeom>
          <a:noFill/>
          <a:ln/>
        </p:spPr>
        <p:txBody>
          <a:bodyPr wrap="squar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Data Collection and Storage</a:t>
            </a:r>
            <a:endParaRPr lang="en-US" sz="2100" dirty="0"/>
          </a:p>
        </p:txBody>
      </p:sp>
      <p:sp>
        <p:nvSpPr>
          <p:cNvPr id="8" name="Text 5"/>
          <p:cNvSpPr/>
          <p:nvPr/>
        </p:nvSpPr>
        <p:spPr>
          <a:xfrm>
            <a:off x="7041714" y="3624858"/>
            <a:ext cx="2905602" cy="1421606"/>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Acquiring and managing large volumes of data from various sources is a significant challenge.</a:t>
            </a:r>
            <a:endParaRPr lang="en-US" sz="1700" dirty="0"/>
          </a:p>
        </p:txBody>
      </p:sp>
      <p:sp>
        <p:nvSpPr>
          <p:cNvPr id="9" name="Shape 6"/>
          <p:cNvSpPr/>
          <p:nvPr/>
        </p:nvSpPr>
        <p:spPr>
          <a:xfrm>
            <a:off x="10169487" y="2631999"/>
            <a:ext cx="499942" cy="499943"/>
          </a:xfrm>
          <a:prstGeom prst="roundRect">
            <a:avLst>
              <a:gd name="adj" fmla="val 26667"/>
            </a:avLst>
          </a:prstGeom>
          <a:solidFill>
            <a:srgbClr val="EEEFF5"/>
          </a:solidFill>
          <a:ln/>
        </p:spPr>
        <p:txBody>
          <a:bodyPr/>
          <a:lstStyle/>
          <a:p>
            <a:endParaRPr lang="en-US"/>
          </a:p>
        </p:txBody>
      </p:sp>
      <p:sp>
        <p:nvSpPr>
          <p:cNvPr id="10" name="Text 7"/>
          <p:cNvSpPr/>
          <p:nvPr/>
        </p:nvSpPr>
        <p:spPr>
          <a:xfrm>
            <a:off x="10327958" y="2673668"/>
            <a:ext cx="182880" cy="416482"/>
          </a:xfrm>
          <a:prstGeom prst="rect">
            <a:avLst/>
          </a:prstGeom>
          <a:noFill/>
          <a:ln/>
        </p:spPr>
        <p:txBody>
          <a:bodyPr wrap="none" lIns="91431" tIns="45716" rIns="91431" bIns="45716" rtlCol="0" anchor="t"/>
          <a:lstStyle/>
          <a:p>
            <a:pPr algn="ctr">
              <a:lnSpc>
                <a:spcPts val="3281"/>
              </a:lnSpc>
            </a:pPr>
            <a:r>
              <a:rPr lang="en-US" sz="2600" b="1" dirty="0">
                <a:solidFill>
                  <a:srgbClr val="396AF1"/>
                </a:solidFill>
                <a:latin typeface="Barlow" pitchFamily="34" charset="0"/>
                <a:ea typeface="Barlow" pitchFamily="34" charset="-122"/>
                <a:cs typeface="Barlow" pitchFamily="34" charset="-120"/>
              </a:rPr>
              <a:t>2</a:t>
            </a:r>
            <a:endParaRPr lang="en-US" sz="2600" dirty="0"/>
          </a:p>
        </p:txBody>
      </p:sp>
      <p:sp>
        <p:nvSpPr>
          <p:cNvPr id="11" name="Text 8"/>
          <p:cNvSpPr/>
          <p:nvPr/>
        </p:nvSpPr>
        <p:spPr>
          <a:xfrm>
            <a:off x="10891602" y="2708317"/>
            <a:ext cx="2905602" cy="694373"/>
          </a:xfrm>
          <a:prstGeom prst="rect">
            <a:avLst/>
          </a:prstGeom>
          <a:noFill/>
          <a:ln/>
        </p:spPr>
        <p:txBody>
          <a:bodyPr wrap="squar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Data Quality and Validity</a:t>
            </a:r>
            <a:endParaRPr lang="en-US" sz="2100" dirty="0"/>
          </a:p>
        </p:txBody>
      </p:sp>
      <p:sp>
        <p:nvSpPr>
          <p:cNvPr id="12" name="Text 9"/>
          <p:cNvSpPr/>
          <p:nvPr/>
        </p:nvSpPr>
        <p:spPr>
          <a:xfrm>
            <a:off x="10891602" y="3624858"/>
            <a:ext cx="2905602" cy="1421606"/>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Ensuring the accuracy and reliability of data is crucial for meaningful analysis.</a:t>
            </a:r>
            <a:endParaRPr lang="en-US" sz="1700" dirty="0"/>
          </a:p>
        </p:txBody>
      </p:sp>
      <p:sp>
        <p:nvSpPr>
          <p:cNvPr id="13" name="Shape 10"/>
          <p:cNvSpPr/>
          <p:nvPr/>
        </p:nvSpPr>
        <p:spPr>
          <a:xfrm>
            <a:off x="6319600" y="5442231"/>
            <a:ext cx="499942" cy="499943"/>
          </a:xfrm>
          <a:prstGeom prst="roundRect">
            <a:avLst>
              <a:gd name="adj" fmla="val 26667"/>
            </a:avLst>
          </a:prstGeom>
          <a:solidFill>
            <a:srgbClr val="EEEFF5"/>
          </a:solidFill>
          <a:ln/>
        </p:spPr>
        <p:txBody>
          <a:bodyPr/>
          <a:lstStyle/>
          <a:p>
            <a:endParaRPr lang="en-US"/>
          </a:p>
        </p:txBody>
      </p:sp>
      <p:sp>
        <p:nvSpPr>
          <p:cNvPr id="14" name="Text 11"/>
          <p:cNvSpPr/>
          <p:nvPr/>
        </p:nvSpPr>
        <p:spPr>
          <a:xfrm>
            <a:off x="6478072" y="5483900"/>
            <a:ext cx="182880" cy="416482"/>
          </a:xfrm>
          <a:prstGeom prst="rect">
            <a:avLst/>
          </a:prstGeom>
          <a:noFill/>
          <a:ln/>
        </p:spPr>
        <p:txBody>
          <a:bodyPr wrap="none" lIns="91431" tIns="45716" rIns="91431" bIns="45716" rtlCol="0" anchor="t"/>
          <a:lstStyle/>
          <a:p>
            <a:pPr algn="ctr">
              <a:lnSpc>
                <a:spcPts val="3281"/>
              </a:lnSpc>
            </a:pPr>
            <a:r>
              <a:rPr lang="en-US" sz="2600" b="1" dirty="0">
                <a:solidFill>
                  <a:srgbClr val="396AF1"/>
                </a:solidFill>
                <a:latin typeface="Barlow" pitchFamily="34" charset="0"/>
                <a:ea typeface="Barlow" pitchFamily="34" charset="-122"/>
                <a:cs typeface="Barlow" pitchFamily="34" charset="-120"/>
              </a:rPr>
              <a:t>3</a:t>
            </a:r>
            <a:endParaRPr lang="en-US" sz="2600" dirty="0"/>
          </a:p>
        </p:txBody>
      </p:sp>
      <p:sp>
        <p:nvSpPr>
          <p:cNvPr id="15" name="Text 12"/>
          <p:cNvSpPr/>
          <p:nvPr/>
        </p:nvSpPr>
        <p:spPr>
          <a:xfrm>
            <a:off x="7041714" y="5518547"/>
            <a:ext cx="3147061"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Data Privacy and Security</a:t>
            </a:r>
            <a:endParaRPr lang="en-US" sz="2100" dirty="0"/>
          </a:p>
        </p:txBody>
      </p:sp>
      <p:sp>
        <p:nvSpPr>
          <p:cNvPr id="16" name="Text 13"/>
          <p:cNvSpPr/>
          <p:nvPr/>
        </p:nvSpPr>
        <p:spPr>
          <a:xfrm>
            <a:off x="7041716" y="6087906"/>
            <a:ext cx="6755486" cy="710803"/>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Protecting sensitive data from unauthorized access and maintaining compliance with regulations.</a:t>
            </a:r>
            <a:endParaRPr lang="en-US" sz="1700" dirty="0"/>
          </a:p>
        </p:txBody>
      </p:sp>
      <p:pic>
        <p:nvPicPr>
          <p:cNvPr id="17" name="Image 1" descr="preencoded.png"/>
          <p:cNvPicPr>
            <a:picLocks noChangeAspect="1"/>
          </p:cNvPicPr>
          <p:nvPr/>
        </p:nvPicPr>
        <p:blipFill>
          <a:blip r:embed="rId4"/>
          <a:stretch>
            <a:fillRect/>
          </a:stretch>
        </p:blipFill>
        <p:spPr>
          <a:xfrm>
            <a:off x="0" y="0"/>
            <a:ext cx="5486400" cy="8229600"/>
          </a:xfrm>
          <a:prstGeom prst="rect">
            <a:avLst/>
          </a:prstGeom>
        </p:spPr>
      </p:pic>
    </p:spTree>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sp>
        <p:nvSpPr>
          <p:cNvPr id="4" name="Text 1"/>
          <p:cNvSpPr/>
          <p:nvPr/>
        </p:nvSpPr>
        <p:spPr>
          <a:xfrm>
            <a:off x="1760223" y="1976438"/>
            <a:ext cx="7848600" cy="694373"/>
          </a:xfrm>
          <a:prstGeom prst="rect">
            <a:avLst/>
          </a:prstGeom>
          <a:noFill/>
          <a:ln/>
        </p:spPr>
        <p:txBody>
          <a:bodyPr wrap="none" lIns="91431" tIns="45716" rIns="91431" bIns="45716" rtlCol="0" anchor="t"/>
          <a:lstStyle/>
          <a:p>
            <a:pPr>
              <a:lnSpc>
                <a:spcPts val="5468"/>
              </a:lnSpc>
            </a:pPr>
            <a:r>
              <a:rPr lang="en-US" sz="4400" b="1" dirty="0">
                <a:solidFill>
                  <a:srgbClr val="396AF1"/>
                </a:solidFill>
                <a:latin typeface="Barlow" pitchFamily="34" charset="0"/>
                <a:ea typeface="Barlow" pitchFamily="34" charset="-122"/>
                <a:cs typeface="Barlow" pitchFamily="34" charset="-120"/>
              </a:rPr>
              <a:t>Big Data and Business Analytics</a:t>
            </a:r>
            <a:endParaRPr lang="en-US" sz="4400" dirty="0"/>
          </a:p>
        </p:txBody>
      </p:sp>
      <p:sp>
        <p:nvSpPr>
          <p:cNvPr id="5" name="Shape 2"/>
          <p:cNvSpPr/>
          <p:nvPr/>
        </p:nvSpPr>
        <p:spPr>
          <a:xfrm>
            <a:off x="1760219" y="3115151"/>
            <a:ext cx="3555206" cy="3137892"/>
          </a:xfrm>
          <a:prstGeom prst="roundRect">
            <a:avLst>
              <a:gd name="adj" fmla="val 4249"/>
            </a:avLst>
          </a:prstGeom>
          <a:solidFill>
            <a:srgbClr val="EEEFF5"/>
          </a:solidFill>
          <a:ln/>
        </p:spPr>
        <p:txBody>
          <a:bodyPr/>
          <a:lstStyle/>
          <a:p>
            <a:endParaRPr lang="en-US"/>
          </a:p>
        </p:txBody>
      </p:sp>
      <p:sp>
        <p:nvSpPr>
          <p:cNvPr id="6" name="Text 3"/>
          <p:cNvSpPr/>
          <p:nvPr/>
        </p:nvSpPr>
        <p:spPr>
          <a:xfrm>
            <a:off x="1982394" y="3337322"/>
            <a:ext cx="3110866" cy="694373"/>
          </a:xfrm>
          <a:prstGeom prst="rect">
            <a:avLst/>
          </a:prstGeom>
          <a:noFill/>
          <a:ln/>
        </p:spPr>
        <p:txBody>
          <a:bodyPr wrap="squar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Improved Decision Making</a:t>
            </a:r>
            <a:endParaRPr lang="en-US" sz="2100" dirty="0"/>
          </a:p>
        </p:txBody>
      </p:sp>
      <p:sp>
        <p:nvSpPr>
          <p:cNvPr id="7" name="Text 4"/>
          <p:cNvSpPr/>
          <p:nvPr/>
        </p:nvSpPr>
        <p:spPr>
          <a:xfrm>
            <a:off x="1982394" y="4253865"/>
            <a:ext cx="3110866" cy="1421606"/>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analytics enables businesses to make data-driven decisions for greater accuracy and insights.</a:t>
            </a:r>
            <a:endParaRPr lang="en-US" sz="1700" dirty="0"/>
          </a:p>
        </p:txBody>
      </p:sp>
      <p:sp>
        <p:nvSpPr>
          <p:cNvPr id="8" name="Shape 5"/>
          <p:cNvSpPr/>
          <p:nvPr/>
        </p:nvSpPr>
        <p:spPr>
          <a:xfrm>
            <a:off x="5537597" y="3115151"/>
            <a:ext cx="3555206" cy="3137892"/>
          </a:xfrm>
          <a:prstGeom prst="roundRect">
            <a:avLst>
              <a:gd name="adj" fmla="val 4249"/>
            </a:avLst>
          </a:prstGeom>
          <a:solidFill>
            <a:srgbClr val="EEEFF5"/>
          </a:solidFill>
          <a:ln/>
        </p:spPr>
        <p:txBody>
          <a:bodyPr/>
          <a:lstStyle/>
          <a:p>
            <a:endParaRPr lang="en-US"/>
          </a:p>
        </p:txBody>
      </p:sp>
      <p:sp>
        <p:nvSpPr>
          <p:cNvPr id="9" name="Text 6"/>
          <p:cNvSpPr/>
          <p:nvPr/>
        </p:nvSpPr>
        <p:spPr>
          <a:xfrm>
            <a:off x="5759770" y="3337322"/>
            <a:ext cx="3110866" cy="694373"/>
          </a:xfrm>
          <a:prstGeom prst="rect">
            <a:avLst/>
          </a:prstGeom>
          <a:noFill/>
          <a:ln/>
        </p:spPr>
        <p:txBody>
          <a:bodyPr wrap="squar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Enhanced Customer Experience</a:t>
            </a:r>
            <a:endParaRPr lang="en-US" sz="2100" dirty="0"/>
          </a:p>
        </p:txBody>
      </p:sp>
      <p:sp>
        <p:nvSpPr>
          <p:cNvPr id="10" name="Text 7"/>
          <p:cNvSpPr/>
          <p:nvPr/>
        </p:nvSpPr>
        <p:spPr>
          <a:xfrm>
            <a:off x="5759770" y="4253866"/>
            <a:ext cx="3110866" cy="1777008"/>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By analyzing customer data, businesses can personalize products and services to meet individual needs.</a:t>
            </a:r>
            <a:endParaRPr lang="en-US" sz="1700" dirty="0"/>
          </a:p>
        </p:txBody>
      </p:sp>
      <p:sp>
        <p:nvSpPr>
          <p:cNvPr id="11" name="Shape 8"/>
          <p:cNvSpPr/>
          <p:nvPr/>
        </p:nvSpPr>
        <p:spPr>
          <a:xfrm>
            <a:off x="9314975" y="3115151"/>
            <a:ext cx="3555206" cy="3137892"/>
          </a:xfrm>
          <a:prstGeom prst="roundRect">
            <a:avLst>
              <a:gd name="adj" fmla="val 4249"/>
            </a:avLst>
          </a:prstGeom>
          <a:solidFill>
            <a:srgbClr val="EEEFF5"/>
          </a:solidFill>
          <a:ln/>
        </p:spPr>
        <p:txBody>
          <a:bodyPr/>
          <a:lstStyle/>
          <a:p>
            <a:endParaRPr lang="en-US"/>
          </a:p>
        </p:txBody>
      </p:sp>
      <p:sp>
        <p:nvSpPr>
          <p:cNvPr id="12" name="Text 9"/>
          <p:cNvSpPr/>
          <p:nvPr/>
        </p:nvSpPr>
        <p:spPr>
          <a:xfrm>
            <a:off x="9537146" y="3337323"/>
            <a:ext cx="2659381"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Optimized Operations</a:t>
            </a:r>
            <a:endParaRPr lang="en-US" sz="2100" dirty="0"/>
          </a:p>
        </p:txBody>
      </p:sp>
      <p:sp>
        <p:nvSpPr>
          <p:cNvPr id="13" name="Text 10"/>
          <p:cNvSpPr/>
          <p:nvPr/>
        </p:nvSpPr>
        <p:spPr>
          <a:xfrm>
            <a:off x="9537146" y="3906679"/>
            <a:ext cx="3110866" cy="1777008"/>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Identifying patterns and trends in Big Data can streamline processes and improve operational efficiency.</a:t>
            </a:r>
            <a:endParaRPr lang="en-US" sz="1700" dirty="0"/>
          </a:p>
        </p:txBody>
      </p:sp>
    </p:spTree>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sp>
        <p:nvSpPr>
          <p:cNvPr id="4" name="Text 1"/>
          <p:cNvSpPr/>
          <p:nvPr/>
        </p:nvSpPr>
        <p:spPr>
          <a:xfrm>
            <a:off x="1760221" y="980005"/>
            <a:ext cx="7985760" cy="694373"/>
          </a:xfrm>
          <a:prstGeom prst="rect">
            <a:avLst/>
          </a:prstGeom>
          <a:noFill/>
          <a:ln/>
        </p:spPr>
        <p:txBody>
          <a:bodyPr wrap="none" lIns="91431" tIns="45716" rIns="91431" bIns="45716" rtlCol="0" anchor="t"/>
          <a:lstStyle/>
          <a:p>
            <a:pPr>
              <a:lnSpc>
                <a:spcPts val="5468"/>
              </a:lnSpc>
            </a:pPr>
            <a:r>
              <a:rPr lang="en-US" sz="4400" b="1" dirty="0">
                <a:solidFill>
                  <a:srgbClr val="396AF1"/>
                </a:solidFill>
                <a:latin typeface="Barlow" pitchFamily="34" charset="0"/>
                <a:ea typeface="Barlow" pitchFamily="34" charset="-122"/>
                <a:cs typeface="Barlow" pitchFamily="34" charset="-120"/>
              </a:rPr>
              <a:t>Real-world Examples of Big Data</a:t>
            </a:r>
            <a:endParaRPr lang="en-US" sz="4400" dirty="0"/>
          </a:p>
        </p:txBody>
      </p:sp>
      <p:pic>
        <p:nvPicPr>
          <p:cNvPr id="5" name="Image 1" descr="preencoded.png"/>
          <p:cNvPicPr>
            <a:picLocks noChangeAspect="1"/>
          </p:cNvPicPr>
          <p:nvPr/>
        </p:nvPicPr>
        <p:blipFill>
          <a:blip r:embed="rId4"/>
          <a:stretch>
            <a:fillRect/>
          </a:stretch>
        </p:blipFill>
        <p:spPr>
          <a:xfrm>
            <a:off x="1760222" y="2118719"/>
            <a:ext cx="3481149" cy="2151460"/>
          </a:xfrm>
          <a:prstGeom prst="rect">
            <a:avLst/>
          </a:prstGeom>
        </p:spPr>
      </p:pic>
      <p:sp>
        <p:nvSpPr>
          <p:cNvPr id="6" name="Text 2"/>
          <p:cNvSpPr/>
          <p:nvPr/>
        </p:nvSpPr>
        <p:spPr>
          <a:xfrm>
            <a:off x="1760223" y="4547830"/>
            <a:ext cx="2221944"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Smart Cities</a:t>
            </a:r>
            <a:endParaRPr lang="en-US" sz="2100" dirty="0"/>
          </a:p>
        </p:txBody>
      </p:sp>
      <p:sp>
        <p:nvSpPr>
          <p:cNvPr id="7" name="Text 3"/>
          <p:cNvSpPr/>
          <p:nvPr/>
        </p:nvSpPr>
        <p:spPr>
          <a:xfrm>
            <a:off x="1760222" y="5117188"/>
            <a:ext cx="3481149" cy="1777008"/>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is used to optimize urban infrastructure, transportation, and energy management in smart cities around the world.</a:t>
            </a:r>
            <a:endParaRPr lang="en-US" sz="1700" dirty="0"/>
          </a:p>
        </p:txBody>
      </p:sp>
      <p:pic>
        <p:nvPicPr>
          <p:cNvPr id="8" name="Image 2" descr="preencoded.png"/>
          <p:cNvPicPr>
            <a:picLocks noChangeAspect="1"/>
          </p:cNvPicPr>
          <p:nvPr/>
        </p:nvPicPr>
        <p:blipFill>
          <a:blip r:embed="rId5"/>
          <a:stretch>
            <a:fillRect/>
          </a:stretch>
        </p:blipFill>
        <p:spPr>
          <a:xfrm>
            <a:off x="5574627" y="2118719"/>
            <a:ext cx="3481149" cy="2151460"/>
          </a:xfrm>
          <a:prstGeom prst="rect">
            <a:avLst/>
          </a:prstGeom>
        </p:spPr>
      </p:pic>
      <p:sp>
        <p:nvSpPr>
          <p:cNvPr id="9" name="Text 4"/>
          <p:cNvSpPr/>
          <p:nvPr/>
        </p:nvSpPr>
        <p:spPr>
          <a:xfrm>
            <a:off x="5574626" y="4547830"/>
            <a:ext cx="2221944"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E-commerce</a:t>
            </a:r>
            <a:endParaRPr lang="en-US" sz="2100" dirty="0"/>
          </a:p>
        </p:txBody>
      </p:sp>
      <p:sp>
        <p:nvSpPr>
          <p:cNvPr id="10" name="Text 5"/>
          <p:cNvSpPr/>
          <p:nvPr/>
        </p:nvSpPr>
        <p:spPr>
          <a:xfrm>
            <a:off x="5574627" y="5117187"/>
            <a:ext cx="3481149" cy="2132410"/>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Online retailers leverage Big Data to analyze customer behavior, personalize recommendations, and enhance inventory management.</a:t>
            </a:r>
            <a:endParaRPr lang="en-US" sz="1700" dirty="0"/>
          </a:p>
        </p:txBody>
      </p:sp>
      <p:pic>
        <p:nvPicPr>
          <p:cNvPr id="11" name="Image 3" descr="preencoded.png"/>
          <p:cNvPicPr>
            <a:picLocks noChangeAspect="1"/>
          </p:cNvPicPr>
          <p:nvPr/>
        </p:nvPicPr>
        <p:blipFill>
          <a:blip r:embed="rId6"/>
          <a:stretch>
            <a:fillRect/>
          </a:stretch>
        </p:blipFill>
        <p:spPr>
          <a:xfrm>
            <a:off x="9389032" y="2118719"/>
            <a:ext cx="3481149" cy="2151460"/>
          </a:xfrm>
          <a:prstGeom prst="rect">
            <a:avLst/>
          </a:prstGeom>
        </p:spPr>
      </p:pic>
      <p:sp>
        <p:nvSpPr>
          <p:cNvPr id="12" name="Text 6"/>
          <p:cNvSpPr/>
          <p:nvPr/>
        </p:nvSpPr>
        <p:spPr>
          <a:xfrm>
            <a:off x="9389031" y="4547830"/>
            <a:ext cx="2221944"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Healthcare</a:t>
            </a:r>
            <a:endParaRPr lang="en-US" sz="2100" dirty="0"/>
          </a:p>
        </p:txBody>
      </p:sp>
      <p:sp>
        <p:nvSpPr>
          <p:cNvPr id="13" name="Text 7"/>
          <p:cNvSpPr/>
          <p:nvPr/>
        </p:nvSpPr>
        <p:spPr>
          <a:xfrm>
            <a:off x="9389032" y="5117188"/>
            <a:ext cx="3481149" cy="1777008"/>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analytics improves patient outcomes, disease prevention, and medical research through better data-driven decisions.</a:t>
            </a:r>
            <a:endParaRPr lang="en-US" sz="1700" dirty="0"/>
          </a:p>
        </p:txBody>
      </p:sp>
    </p:spTree>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txBody>
          <a:bodyPr/>
          <a:lstStyle/>
          <a:p>
            <a:endParaRPr lang="en-US"/>
          </a:p>
        </p:txBody>
      </p:sp>
      <p:sp>
        <p:nvSpPr>
          <p:cNvPr id="4" name="Text 1"/>
          <p:cNvSpPr/>
          <p:nvPr/>
        </p:nvSpPr>
        <p:spPr>
          <a:xfrm>
            <a:off x="833202" y="1604369"/>
            <a:ext cx="4443890" cy="694373"/>
          </a:xfrm>
          <a:prstGeom prst="rect">
            <a:avLst/>
          </a:prstGeom>
          <a:noFill/>
          <a:ln/>
        </p:spPr>
        <p:txBody>
          <a:bodyPr wrap="none" lIns="91431" tIns="45716" rIns="91431" bIns="45716" rtlCol="0" anchor="t"/>
          <a:lstStyle/>
          <a:p>
            <a:pPr>
              <a:lnSpc>
                <a:spcPts val="5468"/>
              </a:lnSpc>
            </a:pPr>
            <a:r>
              <a:rPr lang="en-US" sz="4400" b="1" dirty="0">
                <a:solidFill>
                  <a:srgbClr val="396AF1"/>
                </a:solidFill>
                <a:latin typeface="Barlow" pitchFamily="34" charset="0"/>
                <a:ea typeface="Barlow" pitchFamily="34" charset="-122"/>
                <a:cs typeface="Barlow" pitchFamily="34" charset="-120"/>
              </a:rPr>
              <a:t>Conclusion</a:t>
            </a:r>
            <a:endParaRPr lang="en-US" sz="4400" dirty="0"/>
          </a:p>
        </p:txBody>
      </p:sp>
      <p:sp>
        <p:nvSpPr>
          <p:cNvPr id="5" name="Shape 2"/>
          <p:cNvSpPr/>
          <p:nvPr/>
        </p:nvSpPr>
        <p:spPr>
          <a:xfrm>
            <a:off x="833200" y="2805591"/>
            <a:ext cx="499942" cy="499943"/>
          </a:xfrm>
          <a:prstGeom prst="roundRect">
            <a:avLst>
              <a:gd name="adj" fmla="val 26667"/>
            </a:avLst>
          </a:prstGeom>
          <a:solidFill>
            <a:srgbClr val="EEEFF5"/>
          </a:solidFill>
          <a:ln/>
        </p:spPr>
        <p:txBody>
          <a:bodyPr/>
          <a:lstStyle/>
          <a:p>
            <a:endParaRPr lang="en-US"/>
          </a:p>
        </p:txBody>
      </p:sp>
      <p:sp>
        <p:nvSpPr>
          <p:cNvPr id="6" name="Text 3"/>
          <p:cNvSpPr/>
          <p:nvPr/>
        </p:nvSpPr>
        <p:spPr>
          <a:xfrm>
            <a:off x="1025963" y="2847261"/>
            <a:ext cx="114301" cy="416482"/>
          </a:xfrm>
          <a:prstGeom prst="rect">
            <a:avLst/>
          </a:prstGeom>
          <a:noFill/>
          <a:ln/>
        </p:spPr>
        <p:txBody>
          <a:bodyPr wrap="none" lIns="91431" tIns="45716" rIns="91431" bIns="45716" rtlCol="0" anchor="t"/>
          <a:lstStyle/>
          <a:p>
            <a:pPr algn="ctr">
              <a:lnSpc>
                <a:spcPts val="3281"/>
              </a:lnSpc>
            </a:pPr>
            <a:r>
              <a:rPr lang="en-US" sz="2600" b="1" dirty="0">
                <a:solidFill>
                  <a:srgbClr val="396AF1"/>
                </a:solidFill>
                <a:latin typeface="Barlow" pitchFamily="34" charset="0"/>
                <a:ea typeface="Barlow" pitchFamily="34" charset="-122"/>
                <a:cs typeface="Barlow" pitchFamily="34" charset="-120"/>
              </a:rPr>
              <a:t>1</a:t>
            </a:r>
            <a:endParaRPr lang="en-US" sz="2600" dirty="0"/>
          </a:p>
        </p:txBody>
      </p:sp>
      <p:sp>
        <p:nvSpPr>
          <p:cNvPr id="7" name="Text 4"/>
          <p:cNvSpPr/>
          <p:nvPr/>
        </p:nvSpPr>
        <p:spPr>
          <a:xfrm>
            <a:off x="1555312" y="2881908"/>
            <a:ext cx="2674621"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The Power of Big Data</a:t>
            </a:r>
            <a:endParaRPr lang="en-US" sz="2100" dirty="0"/>
          </a:p>
        </p:txBody>
      </p:sp>
      <p:sp>
        <p:nvSpPr>
          <p:cNvPr id="8" name="Text 5"/>
          <p:cNvSpPr/>
          <p:nvPr/>
        </p:nvSpPr>
        <p:spPr>
          <a:xfrm>
            <a:off x="1555316" y="3451267"/>
            <a:ext cx="6755486" cy="1066205"/>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Big Data has revolutionized industries, providing valuable insights, transforming decision-making processes, and unlocking new opportunities.</a:t>
            </a:r>
            <a:endParaRPr lang="en-US" sz="1700" dirty="0"/>
          </a:p>
        </p:txBody>
      </p:sp>
      <p:sp>
        <p:nvSpPr>
          <p:cNvPr id="9" name="Shape 6"/>
          <p:cNvSpPr/>
          <p:nvPr/>
        </p:nvSpPr>
        <p:spPr>
          <a:xfrm>
            <a:off x="833200" y="4913235"/>
            <a:ext cx="499942" cy="499943"/>
          </a:xfrm>
          <a:prstGeom prst="roundRect">
            <a:avLst>
              <a:gd name="adj" fmla="val 26667"/>
            </a:avLst>
          </a:prstGeom>
          <a:solidFill>
            <a:srgbClr val="EEEFF5"/>
          </a:solidFill>
          <a:ln/>
        </p:spPr>
        <p:txBody>
          <a:bodyPr/>
          <a:lstStyle/>
          <a:p>
            <a:endParaRPr lang="en-US"/>
          </a:p>
        </p:txBody>
      </p:sp>
      <p:sp>
        <p:nvSpPr>
          <p:cNvPr id="10" name="Text 7"/>
          <p:cNvSpPr/>
          <p:nvPr/>
        </p:nvSpPr>
        <p:spPr>
          <a:xfrm>
            <a:off x="991672" y="4954905"/>
            <a:ext cx="182880" cy="416482"/>
          </a:xfrm>
          <a:prstGeom prst="rect">
            <a:avLst/>
          </a:prstGeom>
          <a:noFill/>
          <a:ln/>
        </p:spPr>
        <p:txBody>
          <a:bodyPr wrap="none" lIns="91431" tIns="45716" rIns="91431" bIns="45716" rtlCol="0" anchor="t"/>
          <a:lstStyle/>
          <a:p>
            <a:pPr algn="ctr">
              <a:lnSpc>
                <a:spcPts val="3281"/>
              </a:lnSpc>
            </a:pPr>
            <a:r>
              <a:rPr lang="en-US" sz="2600" b="1" dirty="0">
                <a:solidFill>
                  <a:srgbClr val="396AF1"/>
                </a:solidFill>
                <a:latin typeface="Barlow" pitchFamily="34" charset="0"/>
                <a:ea typeface="Barlow" pitchFamily="34" charset="-122"/>
                <a:cs typeface="Barlow" pitchFamily="34" charset="-120"/>
              </a:rPr>
              <a:t>2</a:t>
            </a:r>
            <a:endParaRPr lang="en-US" sz="2600" dirty="0"/>
          </a:p>
        </p:txBody>
      </p:sp>
      <p:sp>
        <p:nvSpPr>
          <p:cNvPr id="11" name="Text 8"/>
          <p:cNvSpPr/>
          <p:nvPr/>
        </p:nvSpPr>
        <p:spPr>
          <a:xfrm>
            <a:off x="1555314" y="4989552"/>
            <a:ext cx="2659381" cy="347186"/>
          </a:xfrm>
          <a:prstGeom prst="rect">
            <a:avLst/>
          </a:prstGeom>
          <a:noFill/>
          <a:ln/>
        </p:spPr>
        <p:txBody>
          <a:bodyPr wrap="none" lIns="91431" tIns="45716" rIns="91431" bIns="45716" rtlCol="0" anchor="t"/>
          <a:lstStyle/>
          <a:p>
            <a:pPr>
              <a:lnSpc>
                <a:spcPts val="2734"/>
              </a:lnSpc>
            </a:pPr>
            <a:r>
              <a:rPr lang="en-US" sz="2100" b="1" dirty="0">
                <a:solidFill>
                  <a:srgbClr val="396AF1"/>
                </a:solidFill>
                <a:latin typeface="Barlow" pitchFamily="34" charset="0"/>
                <a:ea typeface="Barlow" pitchFamily="34" charset="-122"/>
                <a:cs typeface="Barlow" pitchFamily="34" charset="-120"/>
              </a:rPr>
              <a:t>Embracing the Future</a:t>
            </a:r>
            <a:endParaRPr lang="en-US" sz="2100" dirty="0"/>
          </a:p>
        </p:txBody>
      </p:sp>
      <p:sp>
        <p:nvSpPr>
          <p:cNvPr id="12" name="Text 9"/>
          <p:cNvSpPr/>
          <p:nvPr/>
        </p:nvSpPr>
        <p:spPr>
          <a:xfrm>
            <a:off x="1555316" y="5558911"/>
            <a:ext cx="6755486" cy="1066205"/>
          </a:xfrm>
          <a:prstGeom prst="rect">
            <a:avLst/>
          </a:prstGeom>
          <a:noFill/>
          <a:ln/>
        </p:spPr>
        <p:txBody>
          <a:bodyPr wrap="square" lIns="91431" tIns="45716" rIns="91431" bIns="45716" rtlCol="0" anchor="t"/>
          <a:lstStyle/>
          <a:p>
            <a:pPr>
              <a:lnSpc>
                <a:spcPts val="2798"/>
              </a:lnSpc>
            </a:pPr>
            <a:r>
              <a:rPr lang="en-US" sz="1700" dirty="0">
                <a:solidFill>
                  <a:srgbClr val="272525"/>
                </a:solidFill>
                <a:latin typeface="Montserrat" pitchFamily="34" charset="0"/>
                <a:ea typeface="Montserrat" pitchFamily="34" charset="-122"/>
                <a:cs typeface="Montserrat" pitchFamily="34" charset="-120"/>
              </a:rPr>
              <a:t>Businesses must embrace Big Data analytics to stay competitive and capitalize on the vast potential of data-driven innovation.</a:t>
            </a:r>
            <a:endParaRPr lang="en-US" sz="1700" dirty="0"/>
          </a:p>
        </p:txBody>
      </p:sp>
      <p:pic>
        <p:nvPicPr>
          <p:cNvPr id="13" name="Image 1" descr="preencoded.png"/>
          <p:cNvPicPr>
            <a:picLocks noChangeAspect="1"/>
          </p:cNvPicPr>
          <p:nvPr/>
        </p:nvPicPr>
        <p:blipFill>
          <a:blip r:embed="rId4"/>
          <a:stretch>
            <a:fillRect/>
          </a:stretch>
        </p:blipFill>
        <p:spPr>
          <a:xfrm>
            <a:off x="9144000" y="0"/>
            <a:ext cx="5486400" cy="8229600"/>
          </a:xfrm>
          <a:prstGeom prst="rect">
            <a:avLst/>
          </a:prstGeom>
        </p:spPr>
      </p:pic>
    </p:spTree>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9000"/>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73</TotalTime>
  <Words>351</Words>
  <Application>Microsoft Office PowerPoint</Application>
  <PresentationFormat>Custom</PresentationFormat>
  <Paragraphs>44</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Barlow</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Ayush Pratap Singh</cp:lastModifiedBy>
  <cp:revision>11</cp:revision>
  <dcterms:created xsi:type="dcterms:W3CDTF">2023-09-14T14:51:46Z</dcterms:created>
  <dcterms:modified xsi:type="dcterms:W3CDTF">2023-09-17T10:21:36Z</dcterms:modified>
</cp:coreProperties>
</file>